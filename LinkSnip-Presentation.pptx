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F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66960" y="4480560"/>
            <a:ext cx="2377440" cy="2377440"/>
          </a:xfrm>
          <a:prstGeom prst="roundRect">
            <a:avLst>
              <a:gd name="adj" fmla="val 12000"/>
            </a:avLst>
          </a:prstGeom>
          <a:solidFill>
            <a:srgbClr val="163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98480" y="5212080"/>
            <a:ext cx="1463040" cy="1645920"/>
          </a:xfrm>
          <a:prstGeom prst="roundRect">
            <a:avLst>
              <a:gd name="adj" fmla="val 18000"/>
            </a:avLst>
          </a:prstGeom>
          <a:solidFill>
            <a:srgbClr val="1D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Link</a:t>
            </a:r>
            <a:r>
              <a:rPr sz="2000" b="1">
                <a:solidFill>
                  <a:srgbClr val="10B981"/>
                </a:solidFill>
                <a:latin typeface="Calibri"/>
              </a:rPr>
              <a:t>Snip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Smart URL Shortening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with Click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8D8CC"/>
                </a:solidFill>
                <a:latin typeface="Calibri"/>
              </a:rPr>
              <a:t>A full-stack web application  ·  FastAPI + React + SQLite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" y="4892040"/>
            <a:ext cx="64008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B8D8CC"/>
                </a:solidFill>
                <a:latin typeface="Calibri"/>
              </a:rPr>
              <a:t>Presented by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Shaswati Sahoo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47857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2A24"/>
                </a:solidFill>
                <a:latin typeface="Calibri"/>
              </a:rPr>
              <a:t>Turning long links into measurable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777240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266944" cy="2148840"/>
          </a:xfrm>
          <a:prstGeom prst="roundRect">
            <a:avLst>
              <a:gd name="adj" fmla="val 4500"/>
            </a:avLst>
          </a:prstGeom>
          <a:solidFill>
            <a:srgbClr val="F5FBF8"/>
          </a:solidFill>
          <a:ln w="9525">
            <a:solidFill>
              <a:srgbClr val="CFE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462686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047857"/>
                </a:solidFill>
                <a:latin typeface="Calibri"/>
              </a:rPr>
              <a:t>THE CHALLENGE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E293B"/>
                </a:solidFill>
                <a:latin typeface="Calibri"/>
              </a:rPr>
              <a:t>Long, messy URLs are hard to share and impossible to measure. Once a link is out in the world, you have no idea who clicked it, from where, or on what device.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783080"/>
            <a:ext cx="5266944" cy="2148840"/>
          </a:xfrm>
          <a:prstGeom prst="roundRect">
            <a:avLst>
              <a:gd name="adj" fmla="val 4500"/>
            </a:avLst>
          </a:prstGeom>
          <a:solidFill>
            <a:srgbClr val="0F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039112"/>
            <a:ext cx="4626864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D1FAE5"/>
                </a:solidFill>
                <a:latin typeface="Calibri"/>
              </a:rPr>
              <a:t>THE SOLUTION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LinkSnip shortens any URL in one click — with optional custom aliases and expiry rules — and turns every click into actionable analytics through a clean, secure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343400"/>
            <a:ext cx="3392423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FE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19" y="4636008"/>
            <a:ext cx="320040" cy="32004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7844" y="471373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5093208"/>
            <a:ext cx="284378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0F2A24"/>
                </a:solidFill>
                <a:latin typeface="Calibri"/>
              </a:rPr>
              <a:t>Shorten &amp; Brand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Custom short links &amp; aliases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4343400"/>
            <a:ext cx="3392423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FE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18303" y="4636008"/>
            <a:ext cx="320040" cy="32004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96027" y="471373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3" y="5093208"/>
            <a:ext cx="284378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0F2A24"/>
                </a:solidFill>
                <a:latin typeface="Calibri"/>
              </a:rPr>
              <a:t>Track Every Click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Real-time click 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7" y="4343400"/>
            <a:ext cx="3392423" cy="1417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FE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76487" y="4636008"/>
            <a:ext cx="320040" cy="32004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54211" y="471373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7" y="5093208"/>
            <a:ext cx="284378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0F2A24"/>
                </a:solidFill>
                <a:latin typeface="Calibri"/>
              </a:rPr>
              <a:t>Own Your Data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Private, per-user dashboards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382512"/>
            <a:ext cx="10908792" cy="12801"/>
          </a:xfrm>
          <a:prstGeom prst="rect">
            <a:avLst/>
          </a:prstGeom>
          <a:solidFill>
            <a:srgbClr val="E2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82"/>
                </a:solidFill>
                <a:latin typeface="Calibri"/>
              </a:rPr>
              <a:t>Shaswati Sahoo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2472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B82"/>
                </a:solidFill>
                <a:latin typeface="Calibri"/>
              </a:rPr>
              <a:t>LinkSnip   </a:t>
            </a:r>
            <a:r>
              <a:rPr sz="1000" b="0">
                <a:solidFill>
                  <a:srgbClr val="5B6B82"/>
                </a:solidFill>
                <a:latin typeface="Calibri"/>
              </a:rPr>
              <a:t>·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47857"/>
                </a:solidFill>
                <a:latin typeface="Calibri"/>
              </a:rPr>
              <a:t>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2A24"/>
                </a:solidFill>
                <a:latin typeface="Calibri"/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777240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266944" cy="1298448"/>
          </a:xfrm>
          <a:prstGeom prst="roundRect">
            <a:avLst>
              <a:gd name="adj" fmla="val 6000"/>
            </a:avLst>
          </a:prstGeom>
          <a:solidFill>
            <a:srgbClr val="F5FBF8"/>
          </a:solidFill>
          <a:ln w="9525">
            <a:solidFill>
              <a:srgbClr val="CFE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39112"/>
            <a:ext cx="100584" cy="786383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7" y="1965960"/>
            <a:ext cx="4398264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A24"/>
                </a:solidFill>
                <a:latin typeface="Calibri"/>
              </a:rPr>
              <a:t>URL Shortening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82"/>
                </a:solidFill>
                <a:latin typeface="Calibri"/>
              </a:rPr>
              <a:t>Instantly shorten any link, with optional custom aliases.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783080"/>
            <a:ext cx="5266944" cy="1298448"/>
          </a:xfrm>
          <a:prstGeom prst="roundRect">
            <a:avLst>
              <a:gd name="adj" fmla="val 6000"/>
            </a:avLst>
          </a:prstGeom>
          <a:solidFill>
            <a:srgbClr val="F5FBF8"/>
          </a:solidFill>
          <a:ln w="9525">
            <a:solidFill>
              <a:srgbClr val="CFE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6248" y="2039112"/>
            <a:ext cx="100584" cy="786383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8856" y="1965960"/>
            <a:ext cx="4398264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A24"/>
                </a:solidFill>
                <a:latin typeface="Calibri"/>
              </a:rPr>
              <a:t>Link Expiry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82"/>
                </a:solidFill>
                <a:latin typeface="Calibri"/>
              </a:rPr>
              <a:t>Auto-expire links by date or by a maximum click limit.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00984"/>
            <a:ext cx="5266944" cy="1298448"/>
          </a:xfrm>
          <a:prstGeom prst="roundRect">
            <a:avLst>
              <a:gd name="adj" fmla="val 6000"/>
            </a:avLst>
          </a:prstGeom>
          <a:solidFill>
            <a:srgbClr val="F5FBF8"/>
          </a:solidFill>
          <a:ln w="9525">
            <a:solidFill>
              <a:srgbClr val="CFE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557015"/>
            <a:ext cx="100584" cy="786383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7" y="3483864"/>
            <a:ext cx="4398264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A24"/>
                </a:solidFill>
                <a:latin typeface="Calibri"/>
              </a:rPr>
              <a:t>Click Analytics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82"/>
                </a:solidFill>
                <a:latin typeface="Calibri"/>
              </a:rPr>
              <a:t>Track clicks over time, top referrers, devices &amp; browsers.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3300984"/>
            <a:ext cx="5266944" cy="1298448"/>
          </a:xfrm>
          <a:prstGeom prst="roundRect">
            <a:avLst>
              <a:gd name="adj" fmla="val 6000"/>
            </a:avLst>
          </a:prstGeom>
          <a:solidFill>
            <a:srgbClr val="F5FBF8"/>
          </a:solidFill>
          <a:ln w="9525">
            <a:solidFill>
              <a:srgbClr val="CFE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56248" y="3557015"/>
            <a:ext cx="100584" cy="786383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8856" y="3483864"/>
            <a:ext cx="4398264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A24"/>
                </a:solidFill>
                <a:latin typeface="Calibri"/>
              </a:rPr>
              <a:t>Geo Insights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82"/>
                </a:solidFill>
                <a:latin typeface="Calibri"/>
              </a:rPr>
              <a:t>See where clicks come from on an interactive world map.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18888"/>
            <a:ext cx="5266944" cy="1298448"/>
          </a:xfrm>
          <a:prstGeom prst="roundRect">
            <a:avLst>
              <a:gd name="adj" fmla="val 6000"/>
            </a:avLst>
          </a:prstGeom>
          <a:solidFill>
            <a:srgbClr val="F5FBF8"/>
          </a:solidFill>
          <a:ln w="9525">
            <a:solidFill>
              <a:srgbClr val="CFE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5074920"/>
            <a:ext cx="100584" cy="786383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7" y="5001768"/>
            <a:ext cx="4398264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A24"/>
                </a:solidFill>
                <a:latin typeface="Calibri"/>
              </a:rPr>
              <a:t>QR Codes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82"/>
                </a:solidFill>
                <a:latin typeface="Calibri"/>
              </a:rPr>
              <a:t>Generate a scannable QR code for any short link.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4818888"/>
            <a:ext cx="5266944" cy="1298448"/>
          </a:xfrm>
          <a:prstGeom prst="roundRect">
            <a:avLst>
              <a:gd name="adj" fmla="val 6000"/>
            </a:avLst>
          </a:prstGeom>
          <a:solidFill>
            <a:srgbClr val="F5FBF8"/>
          </a:solidFill>
          <a:ln w="9525">
            <a:solidFill>
              <a:srgbClr val="CFE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5074920"/>
            <a:ext cx="100584" cy="786383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5001768"/>
            <a:ext cx="4398264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A24"/>
                </a:solidFill>
                <a:latin typeface="Calibri"/>
              </a:rPr>
              <a:t>Accounts &amp; Auth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82"/>
                </a:solidFill>
                <a:latin typeface="Calibri"/>
              </a:rPr>
              <a:t>Secure JWT signup / login with a personal dashboard.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382512"/>
            <a:ext cx="10908792" cy="12801"/>
          </a:xfrm>
          <a:prstGeom prst="rect">
            <a:avLst/>
          </a:prstGeom>
          <a:solidFill>
            <a:srgbClr val="E2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82"/>
                </a:solidFill>
                <a:latin typeface="Calibri"/>
              </a:rPr>
              <a:t>Shaswati Sahoo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2472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B82"/>
                </a:solidFill>
                <a:latin typeface="Calibri"/>
              </a:rPr>
              <a:t>LinkSnip   </a:t>
            </a:r>
            <a:r>
              <a:rPr sz="1000" b="0">
                <a:solidFill>
                  <a:srgbClr val="5B6B82"/>
                </a:solidFill>
                <a:latin typeface="Calibri"/>
              </a:rPr>
              <a:t>·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47857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2A24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777240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266944" cy="1298448"/>
          </a:xfrm>
          <a:prstGeom prst="roundRect">
            <a:avLst>
              <a:gd name="adj" fmla="val 6000"/>
            </a:avLst>
          </a:prstGeom>
          <a:solidFill>
            <a:srgbClr val="F5FBF8"/>
          </a:solidFill>
          <a:ln w="9525">
            <a:solidFill>
              <a:srgbClr val="CFE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39112"/>
            <a:ext cx="100584" cy="786383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7" y="1965960"/>
            <a:ext cx="4398264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A24"/>
                </a:solidFill>
                <a:latin typeface="Calibri"/>
              </a:rPr>
              <a:t>Frontend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82"/>
                </a:solidFill>
                <a:latin typeface="Calibri"/>
              </a:rPr>
              <a:t>React 19  ·  TypeScript  ·  Vite  ·  React Router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783080"/>
            <a:ext cx="5266944" cy="1298448"/>
          </a:xfrm>
          <a:prstGeom prst="roundRect">
            <a:avLst>
              <a:gd name="adj" fmla="val 6000"/>
            </a:avLst>
          </a:prstGeom>
          <a:solidFill>
            <a:srgbClr val="F5FBF8"/>
          </a:solidFill>
          <a:ln w="9525">
            <a:solidFill>
              <a:srgbClr val="CFE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56248" y="2039112"/>
            <a:ext cx="100584" cy="786383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8856" y="1965960"/>
            <a:ext cx="4398264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A24"/>
                </a:solidFill>
                <a:latin typeface="Calibri"/>
              </a:rPr>
              <a:t>Backend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82"/>
                </a:solidFill>
                <a:latin typeface="Calibri"/>
              </a:rPr>
              <a:t>FastAPI  ·  Uvicorn  (async Python REST API)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00984"/>
            <a:ext cx="5266944" cy="1298448"/>
          </a:xfrm>
          <a:prstGeom prst="roundRect">
            <a:avLst>
              <a:gd name="adj" fmla="val 6000"/>
            </a:avLst>
          </a:prstGeom>
          <a:solidFill>
            <a:srgbClr val="F5FBF8"/>
          </a:solidFill>
          <a:ln w="9525">
            <a:solidFill>
              <a:srgbClr val="CFE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557015"/>
            <a:ext cx="100584" cy="786383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7" y="3483864"/>
            <a:ext cx="4398264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A24"/>
                </a:solidFill>
                <a:latin typeface="Calibri"/>
              </a:rPr>
              <a:t>Data Layer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82"/>
                </a:solidFill>
                <a:latin typeface="Calibri"/>
              </a:rPr>
              <a:t>SQLModel ORM  ·  SQLite (zero-config database)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3300984"/>
            <a:ext cx="5266944" cy="1298448"/>
          </a:xfrm>
          <a:prstGeom prst="roundRect">
            <a:avLst>
              <a:gd name="adj" fmla="val 6000"/>
            </a:avLst>
          </a:prstGeom>
          <a:solidFill>
            <a:srgbClr val="F5FBF8"/>
          </a:solidFill>
          <a:ln w="9525">
            <a:solidFill>
              <a:srgbClr val="CFE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56248" y="3557015"/>
            <a:ext cx="100584" cy="786383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8856" y="3483864"/>
            <a:ext cx="4398264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A24"/>
                </a:solidFill>
                <a:latin typeface="Calibri"/>
              </a:rPr>
              <a:t>Auth &amp; Security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82"/>
                </a:solidFill>
                <a:latin typeface="Calibri"/>
              </a:rPr>
              <a:t>JWT (PyJWT)  ·  passlib password hashing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18888"/>
            <a:ext cx="5266944" cy="1298448"/>
          </a:xfrm>
          <a:prstGeom prst="roundRect">
            <a:avLst>
              <a:gd name="adj" fmla="val 6000"/>
            </a:avLst>
          </a:prstGeom>
          <a:solidFill>
            <a:srgbClr val="F5FBF8"/>
          </a:solidFill>
          <a:ln w="9525">
            <a:solidFill>
              <a:srgbClr val="CFE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5074920"/>
            <a:ext cx="100584" cy="786383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7" y="5001768"/>
            <a:ext cx="4398264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A24"/>
                </a:solidFill>
                <a:latin typeface="Calibri"/>
              </a:rPr>
              <a:t>Analytics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82"/>
                </a:solidFill>
                <a:latin typeface="Calibri"/>
              </a:rPr>
              <a:t>geoip2fast geolocation  ·  click logging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4818888"/>
            <a:ext cx="5266944" cy="1298448"/>
          </a:xfrm>
          <a:prstGeom prst="roundRect">
            <a:avLst>
              <a:gd name="adj" fmla="val 6000"/>
            </a:avLst>
          </a:prstGeom>
          <a:solidFill>
            <a:srgbClr val="F5FBF8"/>
          </a:solidFill>
          <a:ln w="9525">
            <a:solidFill>
              <a:srgbClr val="CFE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5074920"/>
            <a:ext cx="100584" cy="786383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5001768"/>
            <a:ext cx="4398264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A24"/>
                </a:solidFill>
                <a:latin typeface="Calibri"/>
              </a:rPr>
              <a:t>UX Extras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82"/>
                </a:solidFill>
                <a:latin typeface="Calibri"/>
              </a:rPr>
              <a:t>QR code generation  ·  D3 world-map visualization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382512"/>
            <a:ext cx="10908792" cy="12801"/>
          </a:xfrm>
          <a:prstGeom prst="rect">
            <a:avLst/>
          </a:prstGeom>
          <a:solidFill>
            <a:srgbClr val="E2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82"/>
                </a:solidFill>
                <a:latin typeface="Calibri"/>
              </a:rPr>
              <a:t>Shaswati Sahoo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2472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B82"/>
                </a:solidFill>
                <a:latin typeface="Calibri"/>
              </a:rPr>
              <a:t>LinkSnip   </a:t>
            </a:r>
            <a:r>
              <a:rPr sz="1000" b="0">
                <a:solidFill>
                  <a:srgbClr val="5B6B82"/>
                </a:solidFill>
                <a:latin typeface="Calibri"/>
              </a:rPr>
              <a:t>·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47857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2A24"/>
                </a:solidFill>
                <a:latin typeface="Calibri"/>
              </a:rPr>
              <a:t>Architecture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777240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04872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React SPA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1FAE5"/>
                </a:solidFill>
                <a:latin typeface="Calibri"/>
              </a:rPr>
              <a:t>Vite front-end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1FAE5"/>
                </a:solidFill>
                <a:latin typeface="Calibri"/>
              </a:rPr>
              <a:t>(user dashboard)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39463" y="2633472"/>
            <a:ext cx="502920" cy="402336"/>
          </a:xfrm>
          <a:prstGeom prst="rightArrow">
            <a:avLst/>
          </a:prstGeom>
          <a:solidFill>
            <a:srgbClr val="CF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32807" y="214884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0F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1407" y="2404872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FastAPI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1FAE5"/>
                </a:solidFill>
                <a:latin typeface="Calibri"/>
              </a:rPr>
              <a:t>REST API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1FAE5"/>
                </a:solidFill>
                <a:latin typeface="Calibri"/>
              </a:rPr>
              <a:t>+ business logic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49311" y="2633472"/>
            <a:ext cx="502920" cy="402336"/>
          </a:xfrm>
          <a:prstGeom prst="rightArrow">
            <a:avLst/>
          </a:prstGeom>
          <a:solidFill>
            <a:srgbClr val="CFE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42655" y="214884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2F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71255" y="2404872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SQLite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1FAE5"/>
                </a:solidFill>
                <a:latin typeface="Calibri"/>
              </a:rPr>
              <a:t>Users · Links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1FAE5"/>
                </a:solidFill>
                <a:latin typeface="Calibri"/>
              </a:rPr>
              <a:t>· Click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77639"/>
            <a:ext cx="10545775" cy="1554480"/>
          </a:xfrm>
          <a:prstGeom prst="roundRect">
            <a:avLst>
              <a:gd name="adj" fmla="val 5000"/>
            </a:avLst>
          </a:prstGeom>
          <a:solidFill>
            <a:srgbClr val="F5FBF8"/>
          </a:solidFill>
          <a:ln w="9525">
            <a:solidFill>
              <a:srgbClr val="CFE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77639"/>
            <a:ext cx="118872" cy="15544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197096"/>
            <a:ext cx="99056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47857"/>
                </a:solidFill>
                <a:latin typeface="Calibri"/>
              </a:rPr>
              <a:t>THE REDIRECT FLOW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Calibri"/>
              </a:rPr>
              <a:t>Short link click  →  </a:t>
            </a:r>
            <a:r>
              <a:rPr sz="1400" b="0">
                <a:solidFill>
                  <a:srgbClr val="1E293B"/>
                </a:solidFill>
                <a:latin typeface="Calibri"/>
              </a:rPr>
              <a:t>302 redirect to the destination  →  </a:t>
            </a:r>
            <a:r>
              <a:rPr sz="1400" b="1">
                <a:solidFill>
                  <a:srgbClr val="1E293B"/>
                </a:solidFill>
                <a:latin typeface="Calibri"/>
              </a:rPr>
              <a:t>click logged</a:t>
            </a:r>
            <a:r>
              <a:rPr sz="1400" b="0">
                <a:solidFill>
                  <a:srgbClr val="5B6B82"/>
                </a:solidFill>
                <a:latin typeface="Calibri"/>
              </a:rPr>
              <a:t>  (timestamp · referrer · device · browser · country)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B82"/>
                </a:solidFill>
                <a:latin typeface="Calibri"/>
              </a:rPr>
              <a:t>A 302 (not 301) is used on purpose — so </a:t>
            </a:r>
            <a:r>
              <a:rPr sz="1250" b="1">
                <a:solidFill>
                  <a:srgbClr val="1E293B"/>
                </a:solidFill>
                <a:latin typeface="Calibri"/>
              </a:rPr>
              <a:t>every click reaches the server and is counted</a:t>
            </a:r>
            <a:r>
              <a:rPr sz="1250" b="0">
                <a:solidFill>
                  <a:srgbClr val="5B6B82"/>
                </a:solidFill>
                <a:latin typeface="Calibri"/>
              </a:rPr>
              <a:t>, never cached away by the browser.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382512"/>
            <a:ext cx="10908792" cy="12801"/>
          </a:xfrm>
          <a:prstGeom prst="rect">
            <a:avLst/>
          </a:prstGeom>
          <a:solidFill>
            <a:srgbClr val="E2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82"/>
                </a:solidFill>
                <a:latin typeface="Calibri"/>
              </a:rPr>
              <a:t>Shaswati Sahoo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B82"/>
                </a:solidFill>
                <a:latin typeface="Calibri"/>
              </a:rPr>
              <a:t>LinkSnip   </a:t>
            </a:r>
            <a:r>
              <a:rPr sz="1000" b="0">
                <a:solidFill>
                  <a:srgbClr val="5B6B82"/>
                </a:solidFill>
                <a:latin typeface="Calibri"/>
              </a:rPr>
              <a:t>·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47857"/>
                </a:solidFill>
                <a:latin typeface="Calibri"/>
              </a:rPr>
              <a:t>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F2A24"/>
                </a:solidFill>
                <a:latin typeface="Calibri"/>
              </a:rPr>
              <a:t>Technical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81328"/>
            <a:ext cx="777240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A24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01368"/>
            <a:ext cx="1014984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2A24"/>
                </a:solidFill>
                <a:latin typeface="Calibri"/>
              </a:rPr>
              <a:t>Base62 short codes  —  </a:t>
            </a:r>
            <a:r>
              <a:rPr sz="1450" b="0">
                <a:solidFill>
                  <a:srgbClr val="1E293B"/>
                </a:solidFill>
                <a:latin typeface="Calibri"/>
              </a:rPr>
              <a:t>derived from row IDs — unique by design, zero collision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55117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5117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A24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23744"/>
            <a:ext cx="1014984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2A24"/>
                </a:solidFill>
                <a:latin typeface="Calibri"/>
              </a:rPr>
              <a:t>302 redirects, not 301  —  </a:t>
            </a:r>
            <a:r>
              <a:rPr sz="1450" b="0">
                <a:solidFill>
                  <a:srgbClr val="1E293B"/>
                </a:solidFill>
                <a:latin typeface="Calibri"/>
              </a:rPr>
              <a:t>so every click is counted and never cached away.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7355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735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A24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46120"/>
            <a:ext cx="1014984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2A24"/>
                </a:solidFill>
                <a:latin typeface="Calibri"/>
              </a:rPr>
              <a:t>Geo + device analytics  —  </a:t>
            </a:r>
            <a:r>
              <a:rPr sz="1450" b="0">
                <a:solidFill>
                  <a:srgbClr val="1E293B"/>
                </a:solidFill>
                <a:latin typeface="Calibri"/>
              </a:rPr>
              <a:t>captured on each redirect via GeoIP and user-agent parsing.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9592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95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A24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68496"/>
            <a:ext cx="1014984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2A24"/>
                </a:solidFill>
                <a:latin typeface="Calibri"/>
              </a:rPr>
              <a:t>JWT-secured, per-user data  —  </a:t>
            </a:r>
            <a:r>
              <a:rPr sz="1450" b="0">
                <a:solidFill>
                  <a:srgbClr val="1E293B"/>
                </a:solidFill>
                <a:latin typeface="Calibri"/>
              </a:rPr>
              <a:t>strict 401 / 404 ownership guards protect every link.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1830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7183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A24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690872"/>
            <a:ext cx="1014984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2A24"/>
                </a:solidFill>
                <a:latin typeface="Calibri"/>
              </a:rPr>
              <a:t>Idempotent auto-migrations  —  </a:t>
            </a:r>
            <a:r>
              <a:rPr sz="1450" b="0">
                <a:solidFill>
                  <a:srgbClr val="1E293B"/>
                </a:solidFill>
                <a:latin typeface="Calibri"/>
              </a:rPr>
              <a:t>the schema evolves on startup without losing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4406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440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A24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13248"/>
            <a:ext cx="1014984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F2A24"/>
                </a:solidFill>
                <a:latin typeface="Calibri"/>
              </a:rPr>
              <a:t>Clean API design  —  </a:t>
            </a:r>
            <a:r>
              <a:rPr sz="1450" b="0">
                <a:solidFill>
                  <a:srgbClr val="1E293B"/>
                </a:solidFill>
                <a:latin typeface="Calibri"/>
              </a:rPr>
              <a:t>stored models vs. exposed schemas kept cleanly separated.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382512"/>
            <a:ext cx="10908792" cy="12801"/>
          </a:xfrm>
          <a:prstGeom prst="rect">
            <a:avLst/>
          </a:prstGeom>
          <a:solidFill>
            <a:srgbClr val="E2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82"/>
                </a:solidFill>
                <a:latin typeface="Calibri"/>
              </a:rPr>
              <a:t>Shaswati Sahoo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2472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5B6B82"/>
                </a:solidFill>
                <a:latin typeface="Calibri"/>
              </a:rPr>
              <a:t>LinkSnip   </a:t>
            </a:r>
            <a:r>
              <a:rPr sz="1000" b="0">
                <a:solidFill>
                  <a:srgbClr val="5B6B82"/>
                </a:solidFill>
                <a:latin typeface="Calibri"/>
              </a:rPr>
              <a:t>·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F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92640" y="-822960"/>
            <a:ext cx="2743200" cy="2743200"/>
          </a:xfrm>
          <a:prstGeom prst="roundRect">
            <a:avLst>
              <a:gd name="adj" fmla="val 15000"/>
            </a:avLst>
          </a:prstGeom>
          <a:solidFill>
            <a:srgbClr val="163A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" y="3429000"/>
            <a:ext cx="64008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Link</a:t>
            </a:r>
            <a:r>
              <a:rPr sz="1800" b="1">
                <a:solidFill>
                  <a:srgbClr val="10B981"/>
                </a:solidFill>
                <a:latin typeface="Calibri"/>
              </a:rPr>
              <a:t>Snip</a:t>
            </a:r>
            <a:r>
              <a:rPr sz="1800" b="0">
                <a:solidFill>
                  <a:srgbClr val="B8D8CC"/>
                </a:solidFill>
                <a:latin typeface="Calibri"/>
              </a:rPr>
              <a:t>  —  Smart URL Shortening &amp;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B8D8CC"/>
                </a:solidFill>
                <a:latin typeface="Calibri"/>
              </a:rPr>
              <a:t>Presented by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Shaswati Sahoo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